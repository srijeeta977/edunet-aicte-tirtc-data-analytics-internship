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3"/>
  </p:handoutMasterIdLst>
  <p:sldIdLst>
    <p:sldId id="338" r:id="rId3"/>
    <p:sldId id="327" r:id="rId4"/>
    <p:sldId id="315" r:id="rId5"/>
    <p:sldId id="329" r:id="rId6"/>
    <p:sldId id="302" r:id="rId7"/>
    <p:sldId id="339" r:id="rId9"/>
    <p:sldId id="340" r:id="rId10"/>
    <p:sldId id="341"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6" userDrawn="1">
          <p15:clr>
            <a:srgbClr val="A4A3A4"/>
          </p15:clr>
        </p15:guide>
        <p15:guide id="3" orient="horz" pos="3876"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69" d="100"/>
          <a:sy n="69" d="100"/>
        </p:scale>
        <p:origin x="484" y="44"/>
      </p:cViewPr>
      <p:guideLst>
        <p:guide orient="horz" pos="1968"/>
        <p:guide pos="426"/>
        <p:guide orient="horz" pos="3876"/>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ustomXml" Target="../customXml/item3.xml"/><Relationship Id="rId18" Type="http://schemas.openxmlformats.org/officeDocument/2006/relationships/customXml" Target="../customXml/item2.xml"/><Relationship Id="rId17" Type="http://schemas.openxmlformats.org/officeDocument/2006/relationships/customXml" Target="../customXml/item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hyperlink" Target="abc" TargetMode="Externa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hyperlink" Target="abc" TargetMode="Externa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hyperlink" Target="abc" TargetMode="Externa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5433060" y="4142105"/>
            <a:ext cx="6758940" cy="922655"/>
          </a:xfrm>
        </p:spPr>
        <p:txBody>
          <a:bodyPr>
            <a:noAutofit/>
          </a:bodyPr>
          <a:lstStyle/>
          <a:p>
            <a:pPr algn="l"/>
            <a:r>
              <a:rPr lang="en-IN" sz="1900" dirty="0">
                <a:solidFill>
                  <a:schemeClr val="tx1"/>
                </a:solidFill>
              </a:rPr>
              <a:t>NAME : SRIJEETA DUTTA</a:t>
            </a:r>
            <a:endParaRPr lang="en-IN" sz="1900" dirty="0">
              <a:solidFill>
                <a:schemeClr val="tx1"/>
              </a:solidFill>
            </a:endParaRPr>
          </a:p>
          <a:p>
            <a:pPr algn="l"/>
            <a:r>
              <a:rPr lang="en-IN" sz="1900" dirty="0">
                <a:solidFill>
                  <a:schemeClr val="tx1"/>
                </a:solidFill>
              </a:rPr>
              <a:t>AICTE STUDENT ID : </a:t>
            </a:r>
            <a:r>
              <a:rPr lang="en-US" altLang="en-US" sz="1900" dirty="0">
                <a:solidFill>
                  <a:schemeClr val="tx1"/>
                </a:solidFill>
              </a:rPr>
              <a:t>STU6877ddd899afa1752686040</a:t>
            </a:r>
            <a:endParaRPr lang="en-US" altLang="en-US" sz="1900" dirty="0">
              <a:solidFill>
                <a:schemeClr val="tx1"/>
              </a:solidFill>
            </a:endParaRPr>
          </a:p>
          <a:p>
            <a:pPr algn="l"/>
            <a:r>
              <a:rPr lang="en-IN" altLang="en-US" sz="1900" dirty="0">
                <a:solidFill>
                  <a:schemeClr val="tx1"/>
                </a:solidFill>
              </a:rPr>
              <a:t>INTERNSHIP ID : </a:t>
            </a:r>
            <a:r>
              <a:rPr lang="en-US" altLang="en-US" sz="1900" dirty="0">
                <a:solidFill>
                  <a:schemeClr val="tx1"/>
                </a:solidFill>
              </a:rPr>
              <a:t> INTERNSHIP_17830691666a4779eecfe8a  </a:t>
            </a:r>
            <a:endParaRPr lang="en-US" altLang="en-US" sz="1900" dirty="0">
              <a:solidFill>
                <a:schemeClr val="tx1"/>
              </a:solidFill>
            </a:endParaRPr>
          </a:p>
          <a:p>
            <a:pPr algn="l"/>
            <a:r>
              <a:rPr lang="en-IN" sz="1900" dirty="0">
                <a:solidFill>
                  <a:schemeClr val="tx1"/>
                </a:solidFill>
              </a:rPr>
              <a:t>COLLEGE NAME : INSTITUTE OF ENGINEERING AND MANAGEMENT, KOLKATA</a:t>
            </a:r>
            <a:endParaRPr lang="en-IN" sz="1900" dirty="0">
              <a:solidFill>
                <a:schemeClr val="tx1"/>
              </a:solidFill>
            </a:endParaRPr>
          </a:p>
        </p:txBody>
      </p:sp>
      <p:sp>
        <p:nvSpPr>
          <p:cNvPr id="4" name="Title 3"/>
          <p:cNvSpPr>
            <a:spLocks noGrp="1"/>
          </p:cNvSpPr>
          <p:nvPr>
            <p:ph type="title"/>
          </p:nvPr>
        </p:nvSpPr>
        <p:spPr>
          <a:xfrm>
            <a:off x="5432761" y="2163583"/>
            <a:ext cx="4998720" cy="743448"/>
          </a:xfrm>
        </p:spPr>
        <p:txBody>
          <a:bodyPr>
            <a:normAutofit fontScale="90000"/>
          </a:bodyPr>
          <a:lstStyle/>
          <a:p>
            <a:r>
              <a:rPr lang="en-IN" altLang="en-GB" sz="3200" b="1" dirty="0" smtClean="0"/>
              <a:t>HEALTHCARE ANALYTICS FOR DOCTOR VISITS_TIRTC</a:t>
            </a:r>
            <a:endParaRPr lang="en-IN" altLang="en-GB" sz="3200" b="1" dirty="0" smtClean="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1875556"/>
            <a:ext cx="6431280" cy="3607987"/>
          </a:xfrm>
        </p:spPr>
        <p:txBody>
          <a:bodyPr>
            <a:normAutofit fontScale="90000" lnSpcReduction="20000"/>
          </a:bodyPr>
          <a:lstStyle/>
          <a:p>
            <a:pPr>
              <a:lnSpc>
                <a:spcPct val="150000"/>
              </a:lnSpc>
            </a:pPr>
            <a:r>
              <a:rPr lang="en-IN" sz="2800" dirty="0"/>
              <a:t>Analyze patient visit data to identify which groups visit doctors more frequently. Explore how illness, health status, and chronic conditions rekate to visit patterns. provide data-driven insights to help hospital management improve healthcare services.</a:t>
            </a:r>
            <a:endParaRPr lang="en-IN" sz="2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dirty="0" smtClean="0"/>
              <a:t>Project Description</a:t>
            </a:r>
            <a:br>
              <a:rPr lang="en-GB" dirty="0" smtClean="0"/>
            </a:br>
            <a:r>
              <a:rPr lang="en-GB" dirty="0" smtClean="0"/>
              <a:t> </a:t>
            </a:r>
            <a:br>
              <a:rPr lang="en-GB" dirty="0"/>
            </a:br>
            <a:endParaRPr lang="en-IN"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Box 1"/>
          <p:cNvSpPr txBox="1"/>
          <p:nvPr/>
        </p:nvSpPr>
        <p:spPr>
          <a:xfrm>
            <a:off x="772160" y="1894205"/>
            <a:ext cx="6658610" cy="4399915"/>
          </a:xfrm>
          <a:prstGeom prst="rect">
            <a:avLst/>
          </a:prstGeom>
          <a:noFill/>
        </p:spPr>
        <p:txBody>
          <a:bodyPr wrap="square" rtlCol="0">
            <a:spAutoFit/>
          </a:bodyPr>
          <a:p>
            <a:r>
              <a:rPr lang="en-IN" altLang="en-US" sz="2800" b="1"/>
              <a:t>P</a:t>
            </a:r>
            <a:r>
              <a:rPr lang="en-US" altLang="en-US" sz="2800" b="1"/>
              <a:t>roject uses Python, Pandas, and data visualization to analyze doctor visit patterns. It explores how illness, health status, age groups, and chronic conditions are associated with healthcare utilization. The insights help hospital management understand patient needs and identify opportunities to improve healthcare services.</a:t>
            </a:r>
            <a:endParaRPr lang="en-US"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1991360"/>
            <a:ext cx="7904481" cy="3990023"/>
          </a:xfrm>
        </p:spPr>
        <p:txBody>
          <a:bodyPr>
            <a:normAutofit fontScale="90000"/>
          </a:bodyPr>
          <a:lstStyle/>
          <a:p>
            <a:pPr lvl="1" algn="just">
              <a:lnSpc>
                <a:spcPct val="150000"/>
              </a:lnSpc>
            </a:pPr>
            <a:r>
              <a:rPr lang="en-IN" sz="3195" b="1" dirty="0"/>
              <a:t>Hospital management and administrators.</a:t>
            </a:r>
            <a:endParaRPr lang="en-IN" sz="3195" b="1" dirty="0"/>
          </a:p>
          <a:p>
            <a:pPr lvl="1" algn="just">
              <a:lnSpc>
                <a:spcPct val="150000"/>
              </a:lnSpc>
            </a:pPr>
            <a:r>
              <a:rPr lang="en-IN" sz="3240" b="1" dirty="0"/>
              <a:t>Doctors and healthcare professionals.</a:t>
            </a:r>
            <a:endParaRPr lang="en-IN" sz="3240" b="1" dirty="0"/>
          </a:p>
          <a:p>
            <a:pPr lvl="1" algn="just">
              <a:lnSpc>
                <a:spcPct val="150000"/>
              </a:lnSpc>
            </a:pPr>
            <a:r>
              <a:rPr lang="en-IN" sz="3240" b="1" dirty="0"/>
              <a:t>Healthcare planners and data analysts.</a:t>
            </a:r>
            <a:endParaRPr lang="en-IN" sz="3240" b="1" dirty="0"/>
          </a:p>
          <a:p>
            <a:pPr lvl="1" algn="just">
              <a:lnSpc>
                <a:spcPct val="150000"/>
              </a:lnSpc>
            </a:pPr>
            <a:r>
              <a:rPr lang="en-IN" sz="3240" b="1" dirty="0"/>
              <a:t>Public health organizations.</a:t>
            </a:r>
            <a:endParaRPr lang="en-IN" sz="3240" b="1" dirty="0"/>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1000"/>
                                        <p:tgtEl>
                                          <p:spTgt spid="2">
                                            <p:txEl>
                                              <p:pRg st="2" end="2"/>
                                            </p:txEl>
                                          </p:spTgt>
                                        </p:tgtEl>
                                      </p:cBhvr>
                                    </p:animEffect>
                                    <p:anim calcmode="lin" valueType="num">
                                      <p:cBhvr>
                                        <p:cTn id="2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fade">
                                      <p:cBhvr>
                                        <p:cTn id="29" dur="1000"/>
                                        <p:tgtEl>
                                          <p:spTgt spid="2">
                                            <p:txEl>
                                              <p:pRg st="3" end="3"/>
                                            </p:txEl>
                                          </p:spTgt>
                                        </p:tgtEl>
                                      </p:cBhvr>
                                    </p:animEffect>
                                    <p:anim calcmode="lin" valueType="num">
                                      <p:cBhvr>
                                        <p:cTn id="3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390618" y="1432560"/>
            <a:ext cx="9027702" cy="5243448"/>
          </a:xfrm>
        </p:spPr>
        <p:txBody>
          <a:bodyPr/>
          <a:lstStyle/>
          <a:p>
            <a:pPr lvl="1">
              <a:lnSpc>
                <a:spcPct val="150000"/>
              </a:lnSpc>
            </a:pPr>
            <a:r>
              <a:rPr lang="en-IN" sz="2600" b="1" dirty="0"/>
              <a:t>Python</a:t>
            </a:r>
            <a:endParaRPr lang="en-IN" sz="2600" b="1" dirty="0"/>
          </a:p>
          <a:p>
            <a:pPr lvl="1">
              <a:lnSpc>
                <a:spcPct val="150000"/>
              </a:lnSpc>
            </a:pPr>
            <a:r>
              <a:rPr lang="en-IN" sz="2600" b="1" dirty="0"/>
              <a:t>Pandas</a:t>
            </a:r>
            <a:endParaRPr lang="en-IN" sz="2600" b="1" dirty="0"/>
          </a:p>
          <a:p>
            <a:pPr lvl="1">
              <a:lnSpc>
                <a:spcPct val="150000"/>
              </a:lnSpc>
            </a:pPr>
            <a:r>
              <a:rPr lang="en-IN" sz="2600" b="1" dirty="0"/>
              <a:t>Numpy</a:t>
            </a:r>
            <a:endParaRPr lang="en-IN" sz="2600" b="1" dirty="0"/>
          </a:p>
          <a:p>
            <a:pPr lvl="1">
              <a:lnSpc>
                <a:spcPct val="150000"/>
              </a:lnSpc>
            </a:pPr>
            <a:r>
              <a:rPr lang="en-IN" sz="2600" b="1" dirty="0"/>
              <a:t>Matplotlib</a:t>
            </a:r>
            <a:endParaRPr lang="en-IN" sz="2600" b="1" dirty="0"/>
          </a:p>
          <a:p>
            <a:pPr lvl="1">
              <a:lnSpc>
                <a:spcPct val="150000"/>
              </a:lnSpc>
            </a:pPr>
            <a:r>
              <a:rPr lang="en-IN" sz="2600" b="1" dirty="0"/>
              <a:t>Sea born</a:t>
            </a:r>
            <a:endParaRPr lang="en-IN" sz="2600" b="1" dirty="0"/>
          </a:p>
        </p:txBody>
      </p:sp>
      <p:sp>
        <p:nvSpPr>
          <p:cNvPr id="9" name="Title 8"/>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p:cNvSpPr txBox="1"/>
          <p:nvPr/>
        </p:nvSpPr>
        <p:spPr>
          <a:xfrm>
            <a:off x="422910" y="5737225"/>
            <a:ext cx="10770870" cy="831215"/>
          </a:xfrm>
          <a:prstGeom prst="rect">
            <a:avLst/>
          </a:prstGeom>
        </p:spPr>
        <p:txBody>
          <a:bodyPr vert="horz" lIns="91440" tIns="45720" rIns="91440" bIns="45720" rtlCol="0" anchor="t">
            <a:normAutofit fontScale="9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2" action="ppaction://hlinkfile"/>
              </a:rPr>
              <a:t>Demo Link</a:t>
            </a:r>
            <a:r>
              <a:rPr lang="en-IN" altLang="en-GB" sz="2000" b="0" u="sng" dirty="0">
                <a:solidFill>
                  <a:srgbClr val="0070C0"/>
                </a:solidFill>
              </a:rPr>
              <a:t> : </a:t>
            </a:r>
            <a:r>
              <a:rPr lang="en-US" altLang="en-US" sz="2000" b="0" u="sng" dirty="0">
                <a:solidFill>
                  <a:srgbClr val="0070C0"/>
                </a:solidFill>
              </a:rPr>
              <a:t>https://github.com/Srijeeta977/Edunet-AICTE-TIRTC-Data-Analytics-Internship.git</a:t>
            </a:r>
            <a:endParaRPr lang="en-US" altLang="en-US" sz="2000" b="0" u="sng" dirty="0">
              <a:solidFill>
                <a:srgbClr val="0070C0"/>
              </a:solidFill>
            </a:endParaRPr>
          </a:p>
        </p:txBody>
      </p:sp>
      <p:pic>
        <p:nvPicPr>
          <p:cNvPr id="6" name="Picture 5"/>
          <p:cNvPicPr/>
          <p:nvPr/>
        </p:nvPicPr>
        <p:blipFill>
          <a:blip r:embed="rId3"/>
          <a:stretch>
            <a:fillRect/>
          </a:stretch>
        </p:blipFill>
        <p:spPr>
          <a:xfrm>
            <a:off x="309245" y="1438275"/>
            <a:ext cx="5020310" cy="4299585"/>
          </a:xfrm>
          <a:prstGeom prst="rect">
            <a:avLst/>
          </a:prstGeom>
        </p:spPr>
      </p:pic>
      <p:pic>
        <p:nvPicPr>
          <p:cNvPr id="11" name="Picture 10"/>
          <p:cNvPicPr/>
          <p:nvPr/>
        </p:nvPicPr>
        <p:blipFill>
          <a:blip r:embed="rId4"/>
          <a:stretch>
            <a:fillRect/>
          </a:stretch>
        </p:blipFill>
        <p:spPr>
          <a:xfrm>
            <a:off x="6017260" y="1437640"/>
            <a:ext cx="5019675" cy="4299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466090" y="477553"/>
            <a:ext cx="4275138" cy="830997"/>
          </a:xfrm>
        </p:spPr>
        <p:txBody>
          <a:bodyPr/>
          <a:p>
            <a:r>
              <a:rPr lang="en-IN" altLang="en-US"/>
              <a:t>RESULTS</a:t>
            </a:r>
            <a:endParaRPr lang="en-IN" altLang="en-US"/>
          </a:p>
        </p:txBody>
      </p:sp>
      <p:pic>
        <p:nvPicPr>
          <p:cNvPr id="5" name="Picture 4"/>
          <p:cNvPicPr/>
          <p:nvPr/>
        </p:nvPicPr>
        <p:blipFill>
          <a:blip r:embed="rId1"/>
          <a:stretch>
            <a:fillRect/>
          </a:stretch>
        </p:blipFill>
        <p:spPr>
          <a:xfrm>
            <a:off x="466090" y="1410970"/>
            <a:ext cx="5994400" cy="4161155"/>
          </a:xfrm>
          <a:prstGeom prst="rect">
            <a:avLst/>
          </a:prstGeom>
        </p:spPr>
      </p:pic>
      <p:pic>
        <p:nvPicPr>
          <p:cNvPr id="6" name="Picture 5"/>
          <p:cNvPicPr/>
          <p:nvPr/>
        </p:nvPicPr>
        <p:blipFill>
          <a:blip r:embed="rId2"/>
          <a:stretch>
            <a:fillRect/>
          </a:stretch>
        </p:blipFill>
        <p:spPr>
          <a:xfrm>
            <a:off x="6628638" y="1410970"/>
            <a:ext cx="5266944" cy="4160520"/>
          </a:xfrm>
          <a:prstGeom prst="rect">
            <a:avLst/>
          </a:prstGeom>
        </p:spPr>
      </p:pic>
      <p:sp>
        <p:nvSpPr>
          <p:cNvPr id="7" name="Text Box 6"/>
          <p:cNvSpPr txBox="1"/>
          <p:nvPr/>
        </p:nvSpPr>
        <p:spPr>
          <a:xfrm>
            <a:off x="591185" y="5807075"/>
            <a:ext cx="11784965" cy="398780"/>
          </a:xfrm>
          <a:prstGeom prst="rect">
            <a:avLst/>
          </a:prstGeom>
          <a:noFill/>
        </p:spPr>
        <p:txBody>
          <a:bodyPr wrap="square" rtlCol="0" anchor="t">
            <a:spAutoFit/>
          </a:bodyPr>
          <a:p>
            <a:r>
              <a:rPr lang="en-GB" dirty="0">
                <a:sym typeface="+mn-ea"/>
              </a:rPr>
              <a:t> </a:t>
            </a:r>
            <a:r>
              <a:rPr lang="en-GB" sz="2000" u="sng" dirty="0">
                <a:solidFill>
                  <a:srgbClr val="0070C0"/>
                </a:solidFill>
                <a:sym typeface="+mn-ea"/>
                <a:hlinkClick r:id="rId3" action="ppaction://hlinkfile"/>
              </a:rPr>
              <a:t>Demo Link</a:t>
            </a:r>
            <a:r>
              <a:rPr lang="en-IN" altLang="en-GB" sz="2000" u="sng" dirty="0">
                <a:solidFill>
                  <a:srgbClr val="0070C0"/>
                </a:solidFill>
                <a:sym typeface="+mn-ea"/>
              </a:rPr>
              <a:t> : </a:t>
            </a:r>
            <a:r>
              <a:rPr lang="en-US" altLang="en-US" sz="2000" u="sng" dirty="0">
                <a:solidFill>
                  <a:srgbClr val="0070C0"/>
                </a:solidFill>
                <a:sym typeface="+mn-ea"/>
              </a:rPr>
              <a:t>https://github.com/Srijeeta977/Edunet-AICTE-TIRTC-Data-Analytics-Internship.git</a:t>
            </a:r>
            <a:endParaRPr lang="en-US" altLang="en-US" sz="2000" u="sng" dirty="0">
              <a:solidFill>
                <a:srgbClr val="0070C0"/>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394335" y="395638"/>
            <a:ext cx="4275138" cy="830997"/>
          </a:xfrm>
        </p:spPr>
        <p:txBody>
          <a:bodyPr/>
          <a:p>
            <a:r>
              <a:rPr lang="en-IN" altLang="en-US"/>
              <a:t>RESULTS</a:t>
            </a:r>
            <a:endParaRPr lang="en-IN" altLang="en-US"/>
          </a:p>
        </p:txBody>
      </p:sp>
      <p:pic>
        <p:nvPicPr>
          <p:cNvPr id="5" name="Picture 4"/>
          <p:cNvPicPr/>
          <p:nvPr/>
        </p:nvPicPr>
        <p:blipFill>
          <a:blip r:embed="rId1"/>
          <a:stretch>
            <a:fillRect/>
          </a:stretch>
        </p:blipFill>
        <p:spPr>
          <a:xfrm>
            <a:off x="662305" y="1226820"/>
            <a:ext cx="5368925" cy="2923540"/>
          </a:xfrm>
          <a:prstGeom prst="rect">
            <a:avLst/>
          </a:prstGeom>
        </p:spPr>
      </p:pic>
      <p:pic>
        <p:nvPicPr>
          <p:cNvPr id="6" name="Picture 5"/>
          <p:cNvPicPr/>
          <p:nvPr/>
        </p:nvPicPr>
        <p:blipFill>
          <a:blip r:embed="rId2"/>
          <a:stretch>
            <a:fillRect/>
          </a:stretch>
        </p:blipFill>
        <p:spPr>
          <a:xfrm>
            <a:off x="6321425" y="1226820"/>
            <a:ext cx="5457190" cy="2830830"/>
          </a:xfrm>
          <a:prstGeom prst="rect">
            <a:avLst/>
          </a:prstGeom>
        </p:spPr>
      </p:pic>
      <p:pic>
        <p:nvPicPr>
          <p:cNvPr id="7" name="Picture 6"/>
          <p:cNvPicPr/>
          <p:nvPr/>
        </p:nvPicPr>
        <p:blipFill>
          <a:blip r:embed="rId3"/>
          <a:stretch>
            <a:fillRect/>
          </a:stretch>
        </p:blipFill>
        <p:spPr>
          <a:xfrm>
            <a:off x="6886575" y="4057650"/>
            <a:ext cx="4915535" cy="2547620"/>
          </a:xfrm>
          <a:prstGeom prst="rect">
            <a:avLst/>
          </a:prstGeom>
        </p:spPr>
      </p:pic>
      <p:sp>
        <p:nvSpPr>
          <p:cNvPr id="8" name="Text Box 7"/>
          <p:cNvSpPr txBox="1"/>
          <p:nvPr/>
        </p:nvSpPr>
        <p:spPr>
          <a:xfrm>
            <a:off x="790575" y="5020310"/>
            <a:ext cx="6096000" cy="1014730"/>
          </a:xfrm>
          <a:prstGeom prst="rect">
            <a:avLst/>
          </a:prstGeom>
          <a:noFill/>
        </p:spPr>
        <p:txBody>
          <a:bodyPr wrap="square" rtlCol="0" anchor="t">
            <a:spAutoFit/>
          </a:bodyPr>
          <a:p>
            <a:r>
              <a:rPr lang="en-GB" dirty="0">
                <a:sym typeface="+mn-ea"/>
              </a:rPr>
              <a:t> </a:t>
            </a:r>
            <a:r>
              <a:rPr lang="en-GB" sz="2000" u="sng" dirty="0">
                <a:solidFill>
                  <a:srgbClr val="0070C0"/>
                </a:solidFill>
                <a:sym typeface="+mn-ea"/>
                <a:hlinkClick r:id="rId4" action="ppaction://hlinkfile"/>
              </a:rPr>
              <a:t>Demo Link</a:t>
            </a:r>
            <a:r>
              <a:rPr lang="en-IN" altLang="en-GB" sz="2000" u="sng" dirty="0">
                <a:solidFill>
                  <a:srgbClr val="0070C0"/>
                </a:solidFill>
                <a:sym typeface="+mn-ea"/>
              </a:rPr>
              <a:t> : </a:t>
            </a:r>
            <a:r>
              <a:rPr lang="en-US" altLang="en-US" sz="2000" u="sng" dirty="0">
                <a:solidFill>
                  <a:srgbClr val="0070C0"/>
                </a:solidFill>
                <a:sym typeface="+mn-ea"/>
              </a:rPr>
              <a:t>https://github.com/Srijeeta977/Edunet-AICTE-TIRTC-Data-Analytics-Internship.git</a:t>
            </a:r>
            <a:endParaRPr lang="en-US" altLang="en-US" sz="2000" u="sng" dirty="0">
              <a:solidFill>
                <a:srgbClr val="0070C0"/>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datastoreItem>
</file>

<file path=customXml/itemProps2.xml><?xml version="1.0" encoding="utf-8"?>
<ds:datastoreItem xmlns:ds="http://schemas.openxmlformats.org/officeDocument/2006/customXml" ds:itemID="{05D99ABA-76CE-4A8E-B5F0-C051B96628DE}">
  <ds:schemaRefs/>
</ds:datastoreItem>
</file>

<file path=customXml/itemProps3.xml><?xml version="1.0" encoding="utf-8"?>
<ds:datastoreItem xmlns:ds="http://schemas.openxmlformats.org/officeDocument/2006/customXml" ds:itemID="{4DEA9014-ED64-4558-B1E1-D03F0EE32BEB}">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1368</Words>
  <Application>WPS Presentation</Application>
  <PresentationFormat>Widescreen</PresentationFormat>
  <Paragraphs>48</Paragraphs>
  <Slides>9</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SimSun</vt:lpstr>
      <vt:lpstr>Wingdings</vt:lpstr>
      <vt:lpstr>Wingdings 3</vt:lpstr>
      <vt:lpstr>Arial</vt:lpstr>
      <vt:lpstr>Calibri</vt:lpstr>
      <vt:lpstr>Trebuchet MS</vt:lpstr>
      <vt:lpstr>Microsoft YaHei</vt:lpstr>
      <vt:lpstr>Arial Unicode MS</vt:lpstr>
      <vt:lpstr>Facet</vt:lpstr>
      <vt:lpstr>HEALTHCARE ANALYTICS FOR DOCTOR VISITS_TIRTC</vt:lpstr>
      <vt:lpstr>PROBLEM  STATEMENT</vt:lpstr>
      <vt:lpstr>Project Description   </vt:lpstr>
      <vt:lpstr>WHO ARE THE END USERS?</vt:lpstr>
      <vt:lpstr>Technology Used</vt:lpstr>
      <vt:lpstr>RESULTS </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89</cp:revision>
  <dcterms:created xsi:type="dcterms:W3CDTF">2021-07-11T13:13:00Z</dcterms:created>
  <dcterms:modified xsi:type="dcterms:W3CDTF">2026-09-19T19:34:06Z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76B33323DAAC4F8D8DDEB4E6DF3A410B_12</vt:lpwstr>
  </property>
  <property fmtid="{D5CDD505-2E9C-101B-9397-08002B2CF9AE}" pid="4" name="KSOProductBuildVer">
    <vt:lpwstr>1033-12.1.0.28485</vt:lpwstr>
  </property>
</Properties>
</file>